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Overpas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6.xml"/><Relationship Id="rId64" Type="http://schemas.openxmlformats.org/officeDocument/2006/relationships/font" Target="fonts/Overpass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66" Type="http://schemas.openxmlformats.org/officeDocument/2006/relationships/font" Target="fonts/Overpass-italic.fntdata"/><Relationship Id="rId21" Type="http://schemas.openxmlformats.org/officeDocument/2006/relationships/slide" Target="slides/slide17.xml"/><Relationship Id="rId65" Type="http://schemas.openxmlformats.org/officeDocument/2006/relationships/font" Target="fonts/Overpass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schemas.openxmlformats.org/officeDocument/2006/relationships/font" Target="fonts/Overpass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0607e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0607e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0607e3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0607e3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91af56f96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91af56f96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91af56f96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91af56f96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91af56f96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91af56f96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91af56f96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91af56f96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1af56f96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1af56f96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91af56f96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91af56f9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91af56f96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91af56f96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1af56f96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1af56f96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91af56f96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91af56f96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91af56f96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91af56f96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891af56f96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891af56f96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91af56f9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891af56f9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891af56f96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891af56f96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1af56f96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1af56f96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91af56f96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91af56f96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91af56f96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91af56f96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91af56f96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91af56f96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91af56f96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91af56f96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91af56f96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91af56f96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1af56f96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1af56f96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891af56f96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891af56f96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0607e3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0607e3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891af56f96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891af56f96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0607e3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0607e3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91af56f96_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91af56f96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0607e30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10607e3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891af56f96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891af56f96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0607e30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10607e3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91af56f96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91af56f96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0607e30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10607e30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891af56f96_2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891af56f96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91af56f9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91af56f9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891af56f9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891af56f9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91af56f96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91af56f96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891af56f96_2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891af56f96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891af56f96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891af56f96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891af56f96_2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891af56f96_2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891af56f96_2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891af56f96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91af56f96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91af56f96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91af56f96_2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91af56f96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891af56f96_2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891af56f96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91af56f96_2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91af56f96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10607e30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10607e30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10607e30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10607e3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10607e30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10607e30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0607e30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0607e30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10607e30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10607e30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898281854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898281854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10607e30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10607e30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10607e30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10607e30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objects in Python have a variety of methods you can use!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in a bit more detail how to find methods and how to get information about them.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clean repeatable code is a key part of becoming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 us to create blocks of code that can be easily executed many times, without needing to constantly rewrite the entire block of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 will be a huge leap forward in your capabilities as a Python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the problems you are able to solve can also be a lot harder!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very important to get practice combining everything you’ve learned so far (control flow, loops, etc.) with functions to become an effective programmer.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may be a point in your progress where you may get discouraged or frustrated, do not worry, this is completely normal and very common!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guide you step by step, be patient with yourself and practice, practice, practice!!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20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20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1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1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2376150" y="3899875"/>
            <a:ext cx="2266283" cy="387373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2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38" name="Google Shape;13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" name="Google Shape;14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3"/>
          <p:cNvCxnSpPr/>
          <p:nvPr/>
        </p:nvCxnSpPr>
        <p:spPr>
          <a:xfrm rot="10800000">
            <a:off x="2361675" y="1302550"/>
            <a:ext cx="0" cy="29919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3"/>
          <p:cNvCxnSpPr/>
          <p:nvPr/>
        </p:nvCxnSpPr>
        <p:spPr>
          <a:xfrm>
            <a:off x="2361675" y="4294450"/>
            <a:ext cx="6092400" cy="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3"/>
          <p:cNvSpPr txBox="1"/>
          <p:nvPr/>
        </p:nvSpPr>
        <p:spPr>
          <a:xfrm>
            <a:off x="3354075" y="4359675"/>
            <a:ext cx="4107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Progress in Python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376150" y="3490325"/>
            <a:ext cx="3694625" cy="796900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watermark.jpg" id="152" name="Google Shape;152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6070775" y="1660354"/>
            <a:ext cx="1100998" cy="183000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4" name="Google Shape;154;p23"/>
          <p:cNvSpPr/>
          <p:nvPr/>
        </p:nvSpPr>
        <p:spPr>
          <a:xfrm flipH="1" rot="10800000">
            <a:off x="5197827" y="1913709"/>
            <a:ext cx="863064" cy="1557541"/>
          </a:xfrm>
          <a:custGeom>
            <a:rect b="b" l="l" r="r" t="t"/>
            <a:pathLst>
              <a:path extrusionOk="0" h="31876" w="147785">
                <a:moveTo>
                  <a:pt x="0" y="31876"/>
                </a:moveTo>
                <a:cubicBezTo>
                  <a:pt x="14102" y="29510"/>
                  <a:pt x="59983" y="22990"/>
                  <a:pt x="84614" y="17677"/>
                </a:cubicBezTo>
                <a:cubicBezTo>
                  <a:pt x="109245" y="12364"/>
                  <a:pt x="137257" y="2946"/>
                  <a:pt x="147785" y="0"/>
                </a:cubicBezTo>
              </a:path>
            </a:pathLst>
          </a:custGeom>
          <a:noFill/>
          <a:ln cap="flat" cmpd="sng" w="38100">
            <a:solidFill>
              <a:srgbClr val="85200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55" name="Google Shape;155;p23"/>
          <p:cNvSpPr txBox="1"/>
          <p:nvPr/>
        </p:nvSpPr>
        <p:spPr>
          <a:xfrm>
            <a:off x="60375" y="1958475"/>
            <a:ext cx="237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Difficulty of Problems You Can Solve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99150" y="16603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376150" y="3471250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224625" y="3010013"/>
            <a:ext cx="1745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Loops and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" name="Google Shape;17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patient with yourself.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your time to practice the material.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getting excited about your new skills and start thinking about personal projects.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learn how to create functions with Python!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" name="Google Shape;18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ef Keyword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a function requires a very specific syntax, including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keyword, correct indentation, and proper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an overview of a Python function structure.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/>
          <p:nvPr/>
        </p:nvSpPr>
        <p:spPr>
          <a:xfrm>
            <a:off x="223325" y="2807200"/>
            <a:ext cx="2016300" cy="766800"/>
          </a:xfrm>
          <a:prstGeom prst="wedgeRoundRectCallout">
            <a:avLst>
              <a:gd fmla="val 55394" name="adj1"/>
              <a:gd fmla="val -214544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Keyword telling Python this is a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/>
          <p:nvPr/>
        </p:nvSpPr>
        <p:spPr>
          <a:xfrm>
            <a:off x="5131400" y="2958125"/>
            <a:ext cx="2541600" cy="111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You decide on the function name. Notice “snake casing”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85628" name="adj1"/>
              <a:gd fmla="val -17009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Snake casing is all lowercase with underscores between words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" name="Google Shape;235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15400" name="adj1"/>
              <a:gd fmla="val -17170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Parenthesis at the end. Later on we can pass in arguments/parameters into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3" name="Google Shape;24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" name="Google Shape;24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5131400" y="2958125"/>
            <a:ext cx="3018600" cy="1140900"/>
          </a:xfrm>
          <a:prstGeom prst="wedgeRoundRectCallout">
            <a:avLst>
              <a:gd fmla="val -9401" name="adj1"/>
              <a:gd fmla="val -17487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 colon indicates an upcoming indented block. Everything indented is then “inside” the function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5584150" y="3688600"/>
            <a:ext cx="3018600" cy="1140900"/>
          </a:xfrm>
          <a:prstGeom prst="wedgeRoundRectCallout">
            <a:avLst>
              <a:gd fmla="val -129395" name="adj1"/>
              <a:gd fmla="val -13572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Optional: Multi-line string to describe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1090" name="adj1"/>
              <a:gd fmla="val -13413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Note: Everything inside the function is indented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0" name="Google Shape;270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1" name="Google Shape;271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/>
          <p:nvPr/>
        </p:nvSpPr>
        <p:spPr>
          <a:xfrm>
            <a:off x="60325" y="3181475"/>
            <a:ext cx="2179200" cy="1140900"/>
          </a:xfrm>
          <a:prstGeom prst="wedgeRoundRectCallout">
            <a:avLst>
              <a:gd fmla="val 65799" name="adj1"/>
              <a:gd fmla="val -4682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Code then goes inside the function.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/>
          <p:nvPr/>
        </p:nvSpPr>
        <p:spPr>
          <a:xfrm>
            <a:off x="5946375" y="3175425"/>
            <a:ext cx="2179200" cy="1140900"/>
          </a:xfrm>
          <a:prstGeom prst="wedgeRoundRectCallout">
            <a:avLst>
              <a:gd fmla="val -116762" name="adj1"/>
              <a:gd fmla="val 2831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 can then be executed/called to see the result.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name_of_function():</a:t>
            </a:r>
            <a:endParaRPr b="1"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b="1"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print(“Hello”)</a:t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name_of_function()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8" name="Google Shape;288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" name="Google Shape;28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262201" name="adj1"/>
              <a:gd fmla="val 1508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Resulting Output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7" name="Google Shape;297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" name="Google Shape;29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name_of_function(name):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Docstring explains function.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E69138"/>
                </a:solidFill>
                <a:latin typeface="Overpass"/>
                <a:ea typeface="Overpass"/>
                <a:cs typeface="Overpass"/>
                <a:sym typeface="Overpass"/>
              </a:rPr>
              <a:t>     ’’’</a:t>
            </a:r>
            <a:endParaRPr sz="3000">
              <a:solidFill>
                <a:srgbClr val="E69138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print(“Hello ”+name)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name_of_function(“Jose”)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Hello Jose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/>
          <p:cNvSpPr/>
          <p:nvPr/>
        </p:nvSpPr>
        <p:spPr>
          <a:xfrm>
            <a:off x="6791550" y="3809300"/>
            <a:ext cx="2179200" cy="1140900"/>
          </a:xfrm>
          <a:prstGeom prst="wedgeRoundRectCallout">
            <a:avLst>
              <a:gd fmla="val -55539" name="adj1"/>
              <a:gd fmla="val -2394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Functions can accept arguments to be passed by the user.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4950325" y="292795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>
            <a:off x="5935825" y="1100200"/>
            <a:ext cx="12180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/>
          <p:nvPr/>
        </p:nvSpPr>
        <p:spPr>
          <a:xfrm>
            <a:off x="4070425" y="3859100"/>
            <a:ext cx="13524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1898575" y="4342100"/>
            <a:ext cx="1047600" cy="4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we use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to send back the result of the function, instead of just printing it out.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allows us to assign the output of the function to a new variable.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have a deeper discussion of the </a:t>
            </a: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 later on in the notebook.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7" name="Google Shape;32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8" name="Google Shape;32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" name="Google Shape;33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4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Return allows to save the result to a variable.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0118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3000">
                <a:solidFill>
                  <a:srgbClr val="A61C00"/>
                </a:solidFill>
                <a:latin typeface="Overpass"/>
                <a:ea typeface="Overpass"/>
                <a:cs typeface="Overpass"/>
                <a:sym typeface="Overpass"/>
              </a:rPr>
              <a:t>add_function(num1,num2):</a:t>
            </a:r>
            <a:endParaRPr sz="3000">
              <a:solidFill>
                <a:srgbClr val="A61C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lang="en" sz="3000">
                <a:solidFill>
                  <a:srgbClr val="3D85C6"/>
                </a:solidFill>
                <a:latin typeface="Overpass"/>
                <a:ea typeface="Overpass"/>
                <a:cs typeface="Overpass"/>
                <a:sym typeface="Overpass"/>
              </a:rPr>
              <a:t>return num1+num2</a:t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D85C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result = add_function(1,2)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print(result)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>
            <a:off x="6694950" y="2294025"/>
            <a:ext cx="2179200" cy="1140900"/>
          </a:xfrm>
          <a:prstGeom prst="wedgeRoundRectCallout">
            <a:avLst>
              <a:gd fmla="val -186295" name="adj1"/>
              <a:gd fmla="val -732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Most functions will use return. Rarely will a function only print()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start creating functions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3" name="Google Shape;353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4" name="Google Shape;35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eturn Statement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" name="Google Shape;367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Functions with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Interactions Between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1" name="Google Shape;381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2" name="Google Shape;382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a python script or notebook contains several functions interacting with each other.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a few functions to mimic the carnival guessing game “Three Cup Monte”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6" name="Google Shape;396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7" name="Google Shape;397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2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2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6" name="Google Shape;406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7" name="Google Shape;407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3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3"/>
          <p:cNvSpPr/>
          <p:nvPr/>
        </p:nvSpPr>
        <p:spPr>
          <a:xfrm>
            <a:off x="3992400" y="106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3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3"/>
          <p:cNvSpPr/>
          <p:nvPr/>
        </p:nvSpPr>
        <p:spPr>
          <a:xfrm>
            <a:off x="4281638" y="32084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7" name="Google Shape;41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8" name="Google Shape;41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4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4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5"/>
          <p:cNvSpPr/>
          <p:nvPr/>
        </p:nvSpPr>
        <p:spPr>
          <a:xfrm>
            <a:off x="2464375" y="20954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5"/>
          <p:cNvSpPr/>
          <p:nvPr/>
        </p:nvSpPr>
        <p:spPr>
          <a:xfrm>
            <a:off x="3992400" y="2962350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5"/>
          <p:cNvSpPr/>
          <p:nvPr/>
        </p:nvSpPr>
        <p:spPr>
          <a:xfrm>
            <a:off x="5548900" y="18643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5"/>
          <p:cNvSpPr/>
          <p:nvPr/>
        </p:nvSpPr>
        <p:spPr>
          <a:xfrm>
            <a:off x="1190525" y="28446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"/>
          <p:cNvSpPr/>
          <p:nvPr/>
        </p:nvSpPr>
        <p:spPr>
          <a:xfrm flipH="1">
            <a:off x="7063375" y="2962350"/>
            <a:ext cx="890100" cy="9759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9" name="Google Shape;439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0" name="Google Shape;440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6"/>
          <p:cNvSpPr/>
          <p:nvPr/>
        </p:nvSpPr>
        <p:spPr>
          <a:xfrm>
            <a:off x="2239625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6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6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7"/>
          <p:cNvSpPr/>
          <p:nvPr/>
        </p:nvSpPr>
        <p:spPr>
          <a:xfrm>
            <a:off x="2239625" y="156892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"/>
          <p:cNvSpPr/>
          <p:nvPr/>
        </p:nvSpPr>
        <p:spPr>
          <a:xfrm>
            <a:off x="399240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/>
          <p:nvPr/>
        </p:nvSpPr>
        <p:spPr>
          <a:xfrm>
            <a:off x="5683750" y="2185375"/>
            <a:ext cx="1159200" cy="1581600"/>
          </a:xfrm>
          <a:prstGeom prst="can">
            <a:avLst>
              <a:gd fmla="val 25000" name="adj"/>
            </a:avLst>
          </a:prstGeom>
          <a:solidFill>
            <a:srgbClr val="A2C4C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7"/>
          <p:cNvSpPr/>
          <p:nvPr/>
        </p:nvSpPr>
        <p:spPr>
          <a:xfrm rot="2700000">
            <a:off x="1089123" y="1483387"/>
            <a:ext cx="1201092" cy="6296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7"/>
          <p:cNvSpPr/>
          <p:nvPr/>
        </p:nvSpPr>
        <p:spPr>
          <a:xfrm>
            <a:off x="2515763" y="3298300"/>
            <a:ext cx="519300" cy="519300"/>
          </a:xfrm>
          <a:prstGeom prst="ellipse">
            <a:avLst/>
          </a:prstGeom>
          <a:solidFill>
            <a:srgbClr val="CC412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game won’t actually show the cups or ball, instead we will simply mimic the effect with a Python list.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simple version will also not show the shuffle to the user, so the guess is completely random.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3" name="Google Shape;463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4" name="Google Shape;46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0" name="Google Shape;470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1" name="Google Shape;471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Learning functions increases your Python skills exponentially.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also means that the difficulties of problems you can solve also increases drastically.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8" name="Google Shape;478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9" name="Google Shape;47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some practice with converting problem statements into Python code.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go through a series of Function Practice Exercises.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this lecture we will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options for this material: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 out the exercises yourself, then go through the solutions.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the solutions as a code-along lecture for more guided practice.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3"/>
          <p:cNvSpPr txBox="1"/>
          <p:nvPr>
            <p:ph type="ctrTitle"/>
          </p:nvPr>
        </p:nvSpPr>
        <p:spPr>
          <a:xfrm>
            <a:off x="352475" y="24599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Function Practice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Problems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Level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OVERVIEW</a:t>
            </a:r>
            <a:endParaRPr/>
          </a:p>
        </p:txBody>
      </p:sp>
      <p:pic>
        <p:nvPicPr>
          <p:cNvPr descr="watermark.jpg" id="509" name="Google Shape;509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Methods and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SOLUTIONS</a:t>
            </a:r>
            <a:endParaRPr/>
          </a:p>
        </p:txBody>
      </p:sp>
      <p:pic>
        <p:nvPicPr>
          <p:cNvPr descr="watermark.jpg" id="517" name="Google Shape;517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Lambda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Map and Filter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4" name="Google Shape;524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5" name="Google Shape;52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*args and **kwargs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1" name="Google Shape;531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2" name="Google Shape;532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