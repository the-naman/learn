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</p:sldIdLst>
  <p:sldSz cy="5143500" cx="9144000"/>
  <p:notesSz cx="6858000" cy="9144000"/>
  <p:embeddedFontLst>
    <p:embeddedFont>
      <p:font typeface="Montserrat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bold.fntdata"/><Relationship Id="rId20" Type="http://schemas.openxmlformats.org/officeDocument/2006/relationships/slide" Target="slides/slide16.xml"/><Relationship Id="rId42" Type="http://schemas.openxmlformats.org/officeDocument/2006/relationships/font" Target="fonts/Montserrat-boldItalic.fntdata"/><Relationship Id="rId41" Type="http://schemas.openxmlformats.org/officeDocument/2006/relationships/font" Target="fonts/Montserrat-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font" Target="fonts/Montserrat-regular.fntdata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88a793e67e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88a793e67e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88a793e67e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88a793e67e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88a793e6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88a793e6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88a793e67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88a793e67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88a793e67e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88a793e67e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88a793e67e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88a793e67e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88a793e67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88a793e67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88a793e67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88a793e67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88a793e67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88a793e67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8991dec1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8991dec1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88a793e67e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88a793e67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8991dec19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8991dec19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8991dec19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8991dec19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8991dec19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8991dec19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8991dec19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8991dec19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8991dec19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8991dec19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8991dec19b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8991dec19b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8991dec19b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8991dec19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8991dec19b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8991dec19b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8991dec19b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8991dec19b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8991dec19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8991dec19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8991dec19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8991dec19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8991dec19b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8991dec19b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8991dec19b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8991dec19b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88a793e67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88a793e67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88a793e67e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88a793e67e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88a793e67e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88a793e67e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88a793e67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88a793e67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8991dec19b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8991dec19b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8991dec19b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8991dec19b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88a793e67e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88a793e67e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8991dec19b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8991dec19b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Advanced Python Modules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 has several built-in modules that we haven’t fully explored yet!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section we will dive deeper into some useful built-in modules, explore their use cases, and then give you a puzzle exercise to solve.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Modules Covered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Collections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Os module and Datetime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Math and Random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 Debugger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Timeit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Regular Expressions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Unzipping and Zipping Modules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Collections Module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Shutil and OS Modules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Opening and Reading Files and Folders</a:t>
            </a:r>
            <a:endParaRPr/>
          </a:p>
        </p:txBody>
      </p:sp>
      <p:pic>
        <p:nvPicPr>
          <p:cNvPr descr="watermark.jpg" id="95" name="Google Shape;95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already know how to open an individual file with Python, but we still don’t know how to do a few things: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if we have to open every file in a directory?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if we want to actually move files around on our computer?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3" name="Google Shape;103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Python’s os module and shutil allow us to easily navigate files and directories on the computer and then perform actions on them, such as moving them or deleting them.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1" name="Google Shape;111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Datetime Module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19" name="Google Shape;119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0" name="Google Shape;120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Math and Random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Modules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27" name="Google Shape;127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8" name="Google Shape;128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Python Debugger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35" name="Google Shape;135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6" name="Google Shape;136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When trying to figure out what errors there are in your code, you’ve probably used print() to try to track down the error.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Fortunately, Python comes with a built-in debugger tool that allows you to interactively explore variables within mid-operation of your Python code!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3" name="Google Shape;143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4" name="Google Shape;144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Regular Expressions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One</a:t>
            </a:r>
            <a:endParaRPr/>
          </a:p>
        </p:txBody>
      </p:sp>
      <p:pic>
        <p:nvPicPr>
          <p:cNvPr descr="watermark.jpg" id="151" name="Google Shape;151;p2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2" name="Google Shape;152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already know we can search for substrings within a larger string with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operator: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og” in “my dog is great”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True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9" name="Google Shape;159;p2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0" name="Google Shape;160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has severe limitations, we need to know the exact string, and need to perform additional operations to account for capitalization and punctuation.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if we only the pattern structure of the string we’re looking for? Like an email or phone number?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7" name="Google Shape;167;p2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8" name="Google Shape;168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2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Regular Expressions (regex) allow us to search for general patterns in text data!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a simple email format can be: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user@email.com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know in this case we’re looking for a pattern “text” + “@” + “text” + “.com”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5" name="Google Shape;175;p2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6" name="Google Shape;176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2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Regular Expressions (regex) allow us to search for general patterns in text data!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a simple email format can be: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A61C00"/>
                </a:solidFill>
                <a:latin typeface="Montserrat"/>
                <a:ea typeface="Montserrat"/>
                <a:cs typeface="Montserrat"/>
                <a:sym typeface="Montserrat"/>
              </a:rPr>
              <a:t>user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@</a:t>
            </a:r>
            <a:r>
              <a:rPr b="1" lang="en" sz="2900">
                <a:solidFill>
                  <a:srgbClr val="A61C00"/>
                </a:solidFill>
                <a:latin typeface="Montserrat"/>
                <a:ea typeface="Montserrat"/>
                <a:cs typeface="Montserrat"/>
                <a:sym typeface="Montserrat"/>
              </a:rPr>
              <a:t>email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know in this case we’re looking for a pattern </a:t>
            </a:r>
            <a:r>
              <a:rPr b="1" lang="en" sz="2900">
                <a:solidFill>
                  <a:srgbClr val="A61C00"/>
                </a:solidFill>
                <a:latin typeface="Montserrat"/>
                <a:ea typeface="Montserrat"/>
                <a:cs typeface="Montserrat"/>
                <a:sym typeface="Montserrat"/>
              </a:rPr>
              <a:t>“text”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+ “@” + </a:t>
            </a:r>
            <a:r>
              <a:rPr b="1" lang="en" sz="2900">
                <a:solidFill>
                  <a:srgbClr val="A61C00"/>
                </a:solidFill>
                <a:latin typeface="Montserrat"/>
                <a:ea typeface="Montserrat"/>
                <a:cs typeface="Montserrat"/>
                <a:sym typeface="Montserrat"/>
              </a:rPr>
              <a:t>“text”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+ “.com”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3" name="Google Shape;183;p2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4" name="Google Shape;184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" name="Google Shape;190;p3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Regular Expressions (regex) allow us to search for general patterns in text data!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a simple email format can be: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user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@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email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.com</a:t>
            </a:r>
            <a:endParaRPr b="1" sz="29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know in this case we’re looking for a pattern “text” + </a:t>
            </a:r>
            <a:r>
              <a:rPr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@</a:t>
            </a:r>
            <a:r>
              <a:rPr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”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+ “text” +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“.com”</a:t>
            </a:r>
            <a:endParaRPr b="1" sz="29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1" name="Google Shape;191;p3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2" name="Google Shape;192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3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library allows us to create specialized pattern strings and then search for matches within text.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primary skill set for regex is understanding the special syntax for these pattern strings.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9" name="Google Shape;199;p3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0" name="Google Shape;200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3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Don’t feel like you need to memorize these patterns! Focus on understanding how to look up the information.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Phone Number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(555)-555-5555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Regex Pattern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r”(\d\d\d)-\d\d\d-\d\d\d\d”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7" name="Google Shape;207;p3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8" name="Google Shape;208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p3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Don’t feel like you need to memorize these patterns! Focus on understanding how to look up the information.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Phone Number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(555)-555-5555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Regex Pattern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B45F06"/>
                </a:solidFill>
                <a:latin typeface="Montserrat"/>
                <a:ea typeface="Montserrat"/>
                <a:cs typeface="Montserrat"/>
                <a:sym typeface="Montserrat"/>
              </a:rPr>
              <a:t>r”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(\d\d\d)-\d\d\d-\d\d\d\d</a:t>
            </a:r>
            <a:r>
              <a:rPr b="1" lang="en" sz="2900">
                <a:solidFill>
                  <a:srgbClr val="B45F06"/>
                </a:solidFill>
                <a:latin typeface="Montserrat"/>
                <a:ea typeface="Montserrat"/>
                <a:cs typeface="Montserrat"/>
                <a:sym typeface="Montserrat"/>
              </a:rPr>
              <a:t>”</a:t>
            </a:r>
            <a:endParaRPr b="1" sz="2900">
              <a:solidFill>
                <a:srgbClr val="B45F0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5" name="Google Shape;215;p3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6" name="Google Shape;216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" name="Google Shape;222;p3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Don’t feel like you need to memorize these patterns! Focus on understanding how to look up the information.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Phone Number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b="1" lang="en" sz="2900">
                <a:solidFill>
                  <a:srgbClr val="990000"/>
                </a:solidFill>
                <a:latin typeface="Montserrat"/>
                <a:ea typeface="Montserrat"/>
                <a:cs typeface="Montserrat"/>
                <a:sym typeface="Montserrat"/>
              </a:rPr>
              <a:t>555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)-</a:t>
            </a:r>
            <a:r>
              <a:rPr b="1" lang="en" sz="2900">
                <a:solidFill>
                  <a:srgbClr val="990000"/>
                </a:solidFill>
                <a:latin typeface="Montserrat"/>
                <a:ea typeface="Montserrat"/>
                <a:cs typeface="Montserrat"/>
                <a:sym typeface="Montserrat"/>
              </a:rPr>
              <a:t>555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b="1" lang="en" sz="2900">
                <a:solidFill>
                  <a:srgbClr val="990000"/>
                </a:solidFill>
                <a:latin typeface="Montserrat"/>
                <a:ea typeface="Montserrat"/>
                <a:cs typeface="Montserrat"/>
                <a:sym typeface="Montserrat"/>
              </a:rPr>
              <a:t>5555</a:t>
            </a:r>
            <a:endParaRPr b="1" sz="2900">
              <a:solidFill>
                <a:srgbClr val="99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Regex Pattern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r”(</a:t>
            </a:r>
            <a:r>
              <a:rPr b="1" lang="en" sz="2900">
                <a:solidFill>
                  <a:srgbClr val="990000"/>
                </a:solidFill>
                <a:latin typeface="Montserrat"/>
                <a:ea typeface="Montserrat"/>
                <a:cs typeface="Montserrat"/>
                <a:sym typeface="Montserrat"/>
              </a:rPr>
              <a:t>\d\d\d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)-</a:t>
            </a:r>
            <a:r>
              <a:rPr b="1" lang="en" sz="2900">
                <a:solidFill>
                  <a:srgbClr val="990000"/>
                </a:solidFill>
                <a:latin typeface="Montserrat"/>
                <a:ea typeface="Montserrat"/>
                <a:cs typeface="Montserrat"/>
                <a:sym typeface="Montserrat"/>
              </a:rPr>
              <a:t>\d\d\d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b="1" lang="en" sz="2900">
                <a:solidFill>
                  <a:srgbClr val="990000"/>
                </a:solidFill>
                <a:latin typeface="Montserrat"/>
                <a:ea typeface="Montserrat"/>
                <a:cs typeface="Montserrat"/>
                <a:sym typeface="Montserrat"/>
              </a:rPr>
              <a:t>\d\d\d\d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”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3" name="Google Shape;223;p3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4" name="Google Shape;224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3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Don’t feel like you need to memorize these patterns! Focus on understanding how to look up the information.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Phone Number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555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)-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555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5555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Regex Pattern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r”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\d\d\d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)-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\d\d\d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\d\d\d\d”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1" name="Google Shape;231;p3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2" name="Google Shape;232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p3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Don’t feel like you need to memorize these patterns! Focus on understanding how to look up the information.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Phone Number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(555)-555-5555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Regex Pattern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r”(\d{3})-\d{3}-\d{4}”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9" name="Google Shape;239;p3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0" name="Google Shape;240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3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series of lectures will first focus on how to use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library to search for patterns within text.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Afterwards we will focus on understanding the regex syntax codes.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7" name="Google Shape;247;p3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8" name="Google Shape;248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Regular Expressions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Two</a:t>
            </a:r>
            <a:endParaRPr/>
          </a:p>
        </p:txBody>
      </p:sp>
      <p:pic>
        <p:nvPicPr>
          <p:cNvPr descr="watermark.jpg" id="255" name="Google Shape;255;p3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6" name="Google Shape;256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Timing Your Code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2" name="Google Shape;262;p3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263" name="Google Shape;263;p3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4" name="Google Shape;264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Regular Expressions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4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Two</a:t>
            </a:r>
            <a:endParaRPr/>
          </a:p>
        </p:txBody>
      </p:sp>
      <p:pic>
        <p:nvPicPr>
          <p:cNvPr descr="watermark.jpg" id="271" name="Google Shape;271;p4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2" name="Google Shape;272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Regular Expressions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4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Three</a:t>
            </a:r>
            <a:endParaRPr/>
          </a:p>
        </p:txBody>
      </p:sp>
      <p:pic>
        <p:nvPicPr>
          <p:cNvPr descr="watermark.jpg" id="279" name="Google Shape;279;p4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0" name="Google Shape;280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Timing Your Code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6" name="Google Shape;286;p4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287" name="Google Shape;287;p4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8" name="Google Shape;288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" name="Google Shape;294;p4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As you learn more Python, you will discover multiple solutions for a single task and you may find yourself trying to figure out the most efficient approach.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 easy way to do this is to time your code’s performance.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5" name="Google Shape;295;p4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6" name="Google Shape;296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2" name="Google Shape;302;p4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focus on 3 ways of doing this: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Simply tracking time elapsed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Using the timeit module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Special </a:t>
            </a: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%%timeit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“magic” for Jupyter Notebooks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3" name="Google Shape;303;p4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4" name="Google Shape;304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Unzipping and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Zipping Files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0" name="Google Shape;310;p4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311" name="Google Shape;311;p4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2" name="Google Shape;312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Advanced Modules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Exercise Puzzle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8" name="Google Shape;318;p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/>
          </a:p>
        </p:txBody>
      </p:sp>
      <p:pic>
        <p:nvPicPr>
          <p:cNvPr descr="watermark.jpg" id="319" name="Google Shape;319;p4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0" name="Google Shape;320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